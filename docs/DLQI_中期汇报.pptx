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5E7EB"/>
                </a:solidFill>
                <a:latin typeface="Microsoft YaHei"/>
              </a:defRPr>
            </a:pPr>
            <a:r>
              <a:t>DLQI — 深度学习量化交易研究平台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Microsoft YaHei"/>
              </a:defRPr>
            </a:pPr>
            <a:r>
              <a:t>Deep Learning Quantitative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Microsoft YaHei"/>
              </a:defRPr>
            </a:pPr>
            <a:r>
              <a:t>中期汇报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2286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使用深度学习模型预测美股价格走势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对比 Transformer、LSTM、LightGBM、XGBoost 四种模型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研究对象：AAPL、AMZN、GOOGL、MSFT、NVDA 五只美股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构建完整的量化交易回测与风险评估体系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303520" cy="22860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后端：FastAPI + SQLAlchemy + Supabase PostgreSQL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前端：Vue 3 + TypeScript + ECharts + Tailwind CSS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模型：PyTorch (LSTM/Transformer) + LightGBM + XGBoost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训练：Google Colab T4 GPU 远程训练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881360" cy="2743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8 个功能页面：仪表盘、策略、模型、回测、交易、风险、数据、调参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6 组 RESTful API：数据、模型、回测、风险、交易、任务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Google Drive 任务队列实现本地与 Colab 协同训练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S&amp;P 500 全部 503 只成分股 10 年日线数据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12 维特征：OHLCV + 收益率 + MA + 波动率 + RSI + MACD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回测引擎：100 万初始资金，含手续费和滑点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  <a:latin typeface="Microsoft YaHei"/>
              </a:defRPr>
            </a:pPr>
            <a:r>
              <a:t>模型性能对比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01168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模型类型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1645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234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平均 Sharpe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1645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234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平均收益率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1645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34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方向准确率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188720"/>
            <a:ext cx="1645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234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平均最大回撤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88720"/>
            <a:ext cx="109728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234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模型数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645920"/>
            <a:ext cx="201168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LightGBM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6459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0.89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6459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E7EB"/>
                </a:solidFill>
                <a:latin typeface="Microsoft YaHei"/>
              </a:defRPr>
            </a:pPr>
            <a:r>
              <a:t>23.8%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6459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E7EB"/>
                </a:solidFill>
                <a:latin typeface="Microsoft YaHei"/>
              </a:defRPr>
            </a:pPr>
            <a:r>
              <a:t>53.6%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6459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E7EB"/>
                </a:solidFill>
                <a:latin typeface="Microsoft YaHei"/>
              </a:defRPr>
            </a:pPr>
            <a:r>
              <a:t>-21.8%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645920"/>
            <a:ext cx="109728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E7E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103120"/>
            <a:ext cx="201168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Microsoft YaHei"/>
              </a:defRPr>
            </a:pPr>
            <a:r>
              <a:t>Transformer (分类)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21031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21488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Microsoft YaHei"/>
              </a:defRPr>
            </a:pPr>
            <a:r>
              <a:t>0.52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21031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21488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5.5%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21031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1488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49.7%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1031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1488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-14.2%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2103120"/>
            <a:ext cx="109728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21488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560320"/>
            <a:ext cx="201168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LSTM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25603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26060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0.22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25603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59" y="26060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7.2%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25603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6060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49.9%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2560320"/>
            <a:ext cx="164592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26060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-13.8%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2560320"/>
            <a:ext cx="1097280" cy="4114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2606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017520"/>
            <a:ext cx="201168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063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XGBoost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30175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0" y="30632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Microsoft YaHei"/>
              </a:defRPr>
            </a:pPr>
            <a:r>
              <a:t>-0.20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9120" y="30175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59" y="30632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-0.4%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0" y="30175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30632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50.5%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80960" y="3017520"/>
            <a:ext cx="164592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306323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-21.5%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26880" y="3017520"/>
            <a:ext cx="1097280" cy="4114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30632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3840480"/>
            <a:ext cx="5303520" cy="2560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4389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LightGBM 回测表现最优 (平均 Sharpe 0.89)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Transformer 分类版排第二 (Sharpe 0.52)，回撤最小 (-14.2%)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回归版 Transformer 存在模型坍缩问题，改为分类任务后解决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所有模型超额收益为负，市场 beta 贡献了大部分收益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840480"/>
            <a:ext cx="5303520" cy="2560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Top 5 模型（含超额收益）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4389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#1  Transformer GOOGL — Sharpe 3.38, 超额 -46.3%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#2  LightGBM GOOGL — Sharpe 3.29, 超额 -4.8%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#3  XGBoost GOOGL — Sharpe 1.62, 超额 -48.8%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#4  LightGBM AAPL — Sharpe 1.36, 超额 -1.4%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#5  LightGBM NVDA — Sharpe 1.21, 超额 -37.0%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  <a:latin typeface="Microsoft YaHei"/>
              </a:defRPr>
            </a:pPr>
            <a:r>
              <a:t>核心工作：Transformer 架构改进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2286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改进前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随机可学习位置编码 — 小数据集难以收敛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无因果掩码 — 训练时泄露未来信息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模型过大：d_model=128, 4层, 8头 (~50万参数)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单股票训练：仅 ~1200 条数据，严重过拟合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结果：平均 Sharpe 0.83，方向准确率 48.2%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303520" cy="2286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改进后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正弦位置编码 — 无需学习，小数据更稳定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因果掩码 — 训练/推理分布一致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模型缩小：d_model=64, 2层, 4头 (~10万参数)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改为分类任务（涨/跌），解决回归坍缩问题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  <a:latin typeface="Microsoft YaHei"/>
              </a:defRPr>
            </a:pPr>
            <a:r>
              <a:t>结果：方向准确率 52.0%（超过随机 50%）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4747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任务类型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回归 → 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57600"/>
            <a:ext cx="34747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方向准确率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48.2% → 52.0%  (+3.8pp)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474720" cy="13716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模型坍缩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已解决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8813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训练优化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AdamW + Cosine Annealing LR + 梯度裁剪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Early Stopping (patience=10)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7607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LazySeqDataset 按需生成序列，避免 OOM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逐股票构建序列，避免跨股票边界污染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  <a:latin typeface="Microsoft YaHei"/>
              </a:defRPr>
            </a:pPr>
            <a:r>
              <a:t>数据与特征工程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数据规模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503 只股票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S&amp;P 500 全部成分股 × 10 年日线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47472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总数据量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1,245,066 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训练集 841,217 / 验证集 156,546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74720" cy="18288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数据源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yfinance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Yahoo Finance API，免费开源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10881360" cy="32004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12 维特征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基础价格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Open, High, Low, Close,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收益率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133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日收益率 (pct_change)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17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均线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517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MA5 (5日均线), MA20 (20日均线)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波动率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20日滚动标准差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33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RSI (14日相对强弱指标)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17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趋势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5171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Microsoft YaHei"/>
              </a:defRPr>
            </a:pPr>
            <a:r>
              <a:t>MACD + MACD Signal (12/26/9)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序列长度：60 个交易日（约 3 个月）  |  数据分割：70% 训练 / 15% 验证 / 15% 测试  |  标准化：StandardScaler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  <a:latin typeface="Microsoft YaHei"/>
              </a:defRPr>
            </a:pPr>
            <a:r>
              <a:t>系统功能展示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模型排名、KPI 概览、策略推荐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9728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模型管理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模型列表、特征重要性、性能对比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回测分析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回测结果表、资金曲线、相关性矩阵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9728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模拟交易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7373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虚拟投资组合、历史模拟、交易记录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风险监控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VaR 计算、压力测试、风险预警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65760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数据管理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数据同步、质量统计、批量下载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5760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参数调优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训练配置、进度监控、结果刷新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657600"/>
            <a:ext cx="2651760" cy="219456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策略推荐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复合评分、一键部署、权益曲线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  <a:latin typeface="Microsoft YaHei"/>
              </a:defRPr>
            </a:pPr>
            <a:r>
              <a:t>后期工作计划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383280" cy="5029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模型优化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特征增强：引入布林带、ATR、OBV 等更多技术指标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集成学习：Transformer + LightGBM 信号融合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超参数优化：Optuna 系统搜索最优配置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注意力可视化：分析模型关注的时间步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383280" cy="5029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策略改进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动态仓位：根据模型置信度调整仓位比例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止损止盈：引入风险控制规则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组合优化：多股票权重优化 (Markowitz)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交易成本建模：更精确的滑点和冲击成本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097280"/>
            <a:ext cx="3383280" cy="5029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论文撰写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整理实验数据和对比分析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撰写模型实验章节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绘制架构图和流程图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Microsoft YaHei"/>
              </a:defRPr>
            </a:pPr>
            <a:r>
              <a:t>完成毕业论文初稿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5E7EB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8229600" cy="32004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5603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Microsoft YaHei"/>
              </a:defRPr>
            </a:pPr>
            <a:r>
              <a:t>完成了完整的量化交易研究平台（前端 + 后端 + 训练 + 回测）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Microsoft YaHei"/>
              </a:defRPr>
            </a:pPr>
            <a:r>
              <a:t>实现 4 种模型对比，LightGBM 回测表现最优 (Sharpe 0.89)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Microsoft YaHei"/>
              </a:defRPr>
            </a:pPr>
            <a:r>
              <a:t>Transformer 改为分类任务后方向准确率 52%，解决了回归坍缩问题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Microsoft YaHei"/>
              </a:defRPr>
            </a:pPr>
            <a:r>
              <a:t>发现模型超额收益有限，市场方向预测本质上是极低信噪比问题</a:t>
            </a:r>
          </a:p>
          <a:p>
            <a:pPr>
              <a:spcAft>
                <a:spcPts val="600"/>
              </a:spcAft>
              <a:defRPr sz="1600">
                <a:solidFill>
                  <a:srgbClr val="E5E7EB"/>
                </a:solidFill>
                <a:latin typeface="Microsoft YaHei"/>
              </a:defRPr>
            </a:pPr>
            <a:r>
              <a:t>后续重点：特征增强、集成学习、更长训练、论文撰写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